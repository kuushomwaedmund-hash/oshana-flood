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13B"/>
          </a:solidFill>
          <a:ln w="12700">
            <a:solidFill>
              <a:srgbClr val="1831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515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Oshana FloodX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D3D6"/>
                </a:solidFill>
              </a:rPr>
              <a:t>Interactive flood hazard assessment dashboard for Oshana Region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EF0"/>
                </a:solidFill>
              </a:rPr>
              <a:t>Methodology • Libraries • System workflow • Outputs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507492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00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519379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🌊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40080" y="5788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C1C1C"/>
                </a:solidFill>
              </a:rPr>
              <a:t>River Flood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011680" y="507492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0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12264" y="519379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🏙️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874520" y="5788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C1C1C"/>
                </a:solidFill>
              </a:rPr>
              <a:t>Urban Flood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3246120" y="507492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0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46704" y="519379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⛰️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108960" y="5788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C1C1C"/>
                </a:solidFill>
              </a:rPr>
              <a:t>Rural Flood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480560" y="507492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00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1144" y="519379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💧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343400" y="5788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C1C1C"/>
                </a:solidFill>
              </a:rPr>
              <a:t>Water Body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7315200" y="5806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DDEEF0"/>
                </a:solidFill>
              </a:rPr>
              <a:t>Built with Python, Streamlit, GeoPandas, Folium and Shapely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What the application does for the user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9050">
            <a:solidFill>
              <a:srgbClr val="E40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3657600" cy="4297680"/>
          </a:xfrm>
          <a:prstGeom prst="roundRect">
            <a:avLst>
              <a:gd name="adj" fmla="val 1250"/>
            </a:avLst>
          </a:prstGeom>
          <a:solidFill>
            <a:srgbClr val="F7FAFA"/>
          </a:solidFill>
          <a:ln w="12700">
            <a:solidFill>
              <a:srgbClr val="D7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313B"/>
                </a:solidFill>
              </a:rPr>
              <a:t>Purpose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297180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C1C1C"/>
                </a:solidFill>
              </a:rPr>
              <a:t>Displays flood hazard levels by Oshana constituency.</a:t>
            </a:r>
            <a:endParaRPr lang="en-US" sz="1300" dirty="0"/>
          </a:p>
          <a:p>
            <a:r>
              <a:rPr lang="en-US" sz="1300" dirty="0">
                <a:solidFill>
                  <a:srgbClr val="1C1C1C"/>
                </a:solidFill>
              </a:rPr>
              <a:t>Allows users to switch between River, Urban, Rural and Water Body hazard views.</a:t>
            </a:r>
            <a:endParaRPr lang="en-US" sz="1300" dirty="0"/>
          </a:p>
          <a:p>
            <a:r>
              <a:rPr lang="en-US" sz="1300" dirty="0">
                <a:solidFill>
                  <a:srgbClr val="1C1C1C"/>
                </a:solidFill>
              </a:rPr>
              <a:t>Classifies roads as Safe Road or Risk Road based on hazard exposure.</a:t>
            </a:r>
            <a:endParaRPr lang="en-US" sz="1300" dirty="0"/>
          </a:p>
          <a:p>
            <a:r>
              <a:rPr lang="en-US" sz="1300" dirty="0">
                <a:solidFill>
                  <a:srgbClr val="1C1C1C"/>
                </a:solidFill>
              </a:rPr>
              <a:t>Supports constituency selection and click-to-zoom interaction.</a:t>
            </a:r>
            <a:endParaRPr lang="en-US" sz="1300" dirty="0"/>
          </a:p>
        </p:txBody>
      </p:sp>
      <p:pic>
        <p:nvPicPr>
          <p:cNvPr id="8" name="Image 0" descr="/mnt/data/image(395).png">    </p:cNvPr>
          <p:cNvPicPr>
            <a:picLocks noChangeAspect="1"/>
          </p:cNvPicPr>
          <p:nvPr/>
        </p:nvPicPr>
        <p:blipFill>
          <a:blip r:embed="rId1"/>
          <a:srcRect l="4820" r="4820" t="0" b="0"/>
          <a:stretch/>
        </p:blipFill>
        <p:spPr>
          <a:xfrm>
            <a:off x="4663440" y="1417320"/>
            <a:ext cx="6903720" cy="4297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63440" y="1417320"/>
            <a:ext cx="6903720" cy="4297680"/>
          </a:xfrm>
          <a:prstGeom prst="roundRect">
            <a:avLst>
              <a:gd name="adj" fmla="val 851"/>
            </a:avLst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Oshana FloodX | GIS Programming Project |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Python libraries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app combines web interface tools with geospatial processing tools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9050">
            <a:solidFill>
              <a:srgbClr val="E40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4983480" cy="1051560"/>
          </a:xfrm>
          <a:prstGeom prst="roundRect">
            <a:avLst>
              <a:gd name="adj" fmla="val 4348"/>
            </a:avLst>
          </a:prstGeom>
          <a:solidFill>
            <a:srgbClr val="F8FBFB"/>
          </a:solidFill>
          <a:ln w="12700">
            <a:solidFill>
              <a:srgbClr val="D7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81912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5D5E"/>
                </a:solidFill>
              </a:rPr>
              <a:t>Streamlit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92808"/>
            <a:ext cx="4389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</a:rPr>
              <a:t>Builds the dashboard pages, buttons, select boxes and app state.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49834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581912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5D5E"/>
                </a:solidFill>
              </a:rPr>
              <a:t>GeoPandas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892808"/>
            <a:ext cx="4389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</a:rPr>
              <a:t>Reads KML/GeoDataFrames, manages CRS and spatial layers.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2834640"/>
            <a:ext cx="4983480" cy="1051560"/>
          </a:xfrm>
          <a:prstGeom prst="roundRect">
            <a:avLst>
              <a:gd name="adj" fmla="val 4348"/>
            </a:avLst>
          </a:prstGeom>
          <a:solidFill>
            <a:srgbClr val="F8FBFB"/>
          </a:solidFill>
          <a:ln w="12700">
            <a:solidFill>
              <a:srgbClr val="D7DE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99232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5D5E"/>
                </a:solidFill>
              </a:rPr>
              <a:t>Pandas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310128"/>
            <a:ext cx="4389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</a:rPr>
              <a:t>Reads and cleans the roads CSV attribute table.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2834640"/>
            <a:ext cx="49834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999232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5D5E"/>
                </a:solidFill>
              </a:rPr>
              <a:t>Folium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310128"/>
            <a:ext cx="4389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</a:rPr>
              <a:t>Creates the interactive Leaflet web map.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4251960"/>
            <a:ext cx="4983480" cy="1051560"/>
          </a:xfrm>
          <a:prstGeom prst="roundRect">
            <a:avLst>
              <a:gd name="adj" fmla="val 4348"/>
            </a:avLst>
          </a:prstGeom>
          <a:solidFill>
            <a:srgbClr val="F8FBFB"/>
          </a:solidFill>
          <a:ln w="12700">
            <a:solidFill>
              <a:srgbClr val="D7D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416552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5D5E"/>
                </a:solidFill>
              </a:rPr>
              <a:t>streamlit-folium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727448"/>
            <a:ext cx="4389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</a:rPr>
              <a:t>Embeds the Folium map inside the Streamlit app.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4251960"/>
            <a:ext cx="49834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416552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5D5E"/>
                </a:solidFill>
              </a:rPr>
              <a:t>Shapely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0" y="4727448"/>
            <a:ext cx="43891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</a:rPr>
              <a:t>Creates points, reads WKT geometry and tests intersects/contains.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Oshana FloodX | GIS Programming Project |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inputs and preparation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app loads, cleans and simplifies geospatial layers before mapping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9050">
            <a:solidFill>
              <a:srgbClr val="E40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840" y="2011680"/>
            <a:ext cx="914400" cy="0"/>
          </a:xfrm>
          <a:prstGeom prst="line">
            <a:avLst/>
          </a:prstGeom>
          <a:noFill/>
          <a:ln w="19050">
            <a:solidFill>
              <a:srgbClr val="0B5D5E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709160" y="2011680"/>
            <a:ext cx="868680" cy="0"/>
          </a:xfrm>
          <a:prstGeom prst="line">
            <a:avLst/>
          </a:prstGeom>
          <a:noFill/>
          <a:ln w="19050">
            <a:solidFill>
              <a:srgbClr val="0B5D5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223760" y="2011680"/>
            <a:ext cx="868680" cy="0"/>
          </a:xfrm>
          <a:prstGeom prst="line">
            <a:avLst/>
          </a:prstGeom>
          <a:noFill/>
          <a:ln w="19050">
            <a:solidFill>
              <a:srgbClr val="0B5D5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738360" y="2011680"/>
            <a:ext cx="822960" cy="0"/>
          </a:xfrm>
          <a:prstGeom prst="line">
            <a:avLst/>
          </a:prstGeom>
          <a:noFill/>
          <a:ln w="19050">
            <a:solidFill>
              <a:srgbClr val="0B5D5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4360" y="1417320"/>
            <a:ext cx="1645920" cy="1188720"/>
          </a:xfrm>
          <a:prstGeom prst="roundRect">
            <a:avLst>
              <a:gd name="adj" fmla="val 3846"/>
            </a:avLst>
          </a:prstGeom>
          <a:solidFill>
            <a:srgbClr val="F7FAFA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600200"/>
            <a:ext cx="1325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5D5E"/>
                </a:solidFill>
              </a:rPr>
              <a:t>KML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1993392"/>
            <a:ext cx="13716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Oshana constituencies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17520" y="1417320"/>
            <a:ext cx="1645920" cy="1188720"/>
          </a:xfrm>
          <a:prstGeom prst="roundRect">
            <a:avLst>
              <a:gd name="adj" fmla="val 3846"/>
            </a:avLst>
          </a:prstGeom>
          <a:solidFill>
            <a:srgbClr val="F7FAFA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1600200"/>
            <a:ext cx="1325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5D5E"/>
                </a:solidFill>
              </a:rPr>
              <a:t>CSV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54680" y="1993392"/>
            <a:ext cx="13716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Roads with WKT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40680" y="1417320"/>
            <a:ext cx="1645920" cy="1188720"/>
          </a:xfrm>
          <a:prstGeom prst="roundRect">
            <a:avLst>
              <a:gd name="adj" fmla="val 3846"/>
            </a:avLst>
          </a:prstGeom>
          <a:solidFill>
            <a:srgbClr val="F7FAFA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05272" y="1600200"/>
            <a:ext cx="1325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5D5E"/>
                </a:solidFill>
              </a:rPr>
              <a:t>CRS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77840" y="1993392"/>
            <a:ext cx="13716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Reproject to WGS84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63840" y="1417320"/>
            <a:ext cx="1645920" cy="1188720"/>
          </a:xfrm>
          <a:prstGeom prst="roundRect">
            <a:avLst>
              <a:gd name="adj" fmla="val 3846"/>
            </a:avLst>
          </a:prstGeom>
          <a:solidFill>
            <a:srgbClr val="F7FAFA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28432" y="1600200"/>
            <a:ext cx="1325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5D5E"/>
                </a:solidFill>
              </a:rPr>
              <a:t>Clean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01000" y="1993392"/>
            <a:ext cx="13716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Names + empty records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287000" y="1417320"/>
            <a:ext cx="1645920" cy="1188720"/>
          </a:xfrm>
          <a:prstGeom prst="roundRect">
            <a:avLst>
              <a:gd name="adj" fmla="val 3846"/>
            </a:avLst>
          </a:prstGeom>
          <a:solidFill>
            <a:srgbClr val="F7FAFA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51592" y="1600200"/>
            <a:ext cx="1325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5D5E"/>
                </a:solidFill>
              </a:rPr>
              <a:t>Simplify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424160" y="1993392"/>
            <a:ext cx="13716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Faster web rendering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3840480"/>
            <a:ext cx="5120640" cy="1234440"/>
          </a:xfrm>
          <a:prstGeom prst="roundRect">
            <a:avLst>
              <a:gd name="adj" fmla="val 3704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069080"/>
            <a:ext cx="45720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A65300"/>
                </a:solidFill>
              </a:rPr>
              <a:t>Key data-preparation decisions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05840" y="4434840"/>
            <a:ext cx="44805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1C1C1C"/>
                </a:solidFill>
              </a:rPr>
              <a:t>Constituencies are simplified to reduce loading time.</a:t>
            </a:r>
            <a:endParaRPr lang="en-US" sz="1200" dirty="0"/>
          </a:p>
          <a:p>
            <a:r>
              <a:rPr lang="en-US" sz="1200" dirty="0">
                <a:solidFill>
                  <a:srgbClr val="1C1C1C"/>
                </a:solidFill>
              </a:rPr>
              <a:t>Roads are read from geometry_wkt and converted from EPSG:32733 to EPSG:4326.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46520" y="3840480"/>
            <a:ext cx="4846320" cy="1234440"/>
          </a:xfrm>
          <a:prstGeom prst="roundRect">
            <a:avLst>
              <a:gd name="adj" fmla="val 3704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4069080"/>
            <a:ext cx="43891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D4ED8"/>
                </a:solidFill>
              </a:rPr>
              <a:t>Reliability checks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675120" y="4434840"/>
            <a:ext cx="42519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1C1C1C"/>
                </a:solidFill>
              </a:rPr>
              <a:t>Empty KMLs stop the app safely with an error message.</a:t>
            </a:r>
            <a:endParaRPr lang="en-US" sz="1200" dirty="0"/>
          </a:p>
          <a:p>
            <a:r>
              <a:rPr lang="en-US" sz="1200" dirty="0">
                <a:solidFill>
                  <a:srgbClr val="1C1C1C"/>
                </a:solidFill>
              </a:rPr>
              <a:t>Invalid WKT rows are ignored instead of crashing the app.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Oshana FloodX | GIS Programming Project |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Step-by-step logic used in the system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9050">
            <a:solidFill>
              <a:srgbClr val="E40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502920" cy="502920"/>
          </a:xfrm>
          <a:prstGeom prst="ellipse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90472"/>
            <a:ext cx="1828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08760" y="1325880"/>
            <a:ext cx="97840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435608"/>
            <a:ext cx="24688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5D5E"/>
                </a:solidFill>
              </a:rPr>
              <a:t>Load spatial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34840" y="1435608"/>
            <a:ext cx="63093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</a:rPr>
              <a:t>Read constituency KML and roads CSV.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450592"/>
            <a:ext cx="1828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08760" y="2286000"/>
            <a:ext cx="97840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2395728"/>
            <a:ext cx="24688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5D5E"/>
                </a:solidFill>
              </a:rPr>
              <a:t>Prepare geometry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34840" y="2395728"/>
            <a:ext cx="63093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</a:rPr>
              <a:t>Clean records, set CRS and simplify shapes.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3291840"/>
            <a:ext cx="502920" cy="502920"/>
          </a:xfrm>
          <a:prstGeom prst="ellipse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410712"/>
            <a:ext cx="1828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508760" y="3246120"/>
            <a:ext cx="97840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3355848"/>
            <a:ext cx="24688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5D5E"/>
                </a:solidFill>
              </a:rPr>
              <a:t>Assign hazard levels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34840" y="3355848"/>
            <a:ext cx="63093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</a:rPr>
              <a:t>Use selected hazard type to color constituencies.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4370832"/>
            <a:ext cx="1828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508760" y="4206240"/>
            <a:ext cx="97840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4315968"/>
            <a:ext cx="24688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5D5E"/>
                </a:solidFill>
              </a:rPr>
              <a:t>Classify roads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434840" y="4315968"/>
            <a:ext cx="63093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</a:rPr>
              <a:t>Roads intersecting High or Medium hazard areas become Risk Roads.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77240" y="5212080"/>
            <a:ext cx="502920" cy="502920"/>
          </a:xfrm>
          <a:prstGeom prst="ellipse">
            <a:avLst/>
          </a:prstGeom>
          <a:solidFill>
            <a:srgbClr val="E4003A"/>
          </a:solidFill>
          <a:ln w="12700">
            <a:solidFill>
              <a:srgbClr val="E400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5330952"/>
            <a:ext cx="1828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508760" y="5166360"/>
            <a:ext cx="97840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7360" y="5276088"/>
            <a:ext cx="24688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5D5E"/>
                </a:solidFill>
              </a:rPr>
              <a:t>Display dashboard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434840" y="5276088"/>
            <a:ext cx="630936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</a:rPr>
              <a:t>Render the interactive map and update based on clicks/buttons.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Oshana FloodX | GIS Programming Project |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Hazard switching logic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Each icon changes the hazard layer shown on the map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9050">
            <a:solidFill>
              <a:srgbClr val="E40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00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153619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🌊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21305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C1C1C"/>
                </a:solidFill>
              </a:rPr>
              <a:t>River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965960" y="141732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00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66544" y="153619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🏙️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828800" y="21305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C1C1C"/>
                </a:solidFill>
              </a:rPr>
              <a:t>Urban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063240" y="141732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00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63824" y="153619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⛰️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926080" y="21305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C1C1C"/>
                </a:solidFill>
              </a:rPr>
              <a:t>Rural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160520" y="141732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400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61104" y="1536192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💧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023360" y="21305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C1C1C"/>
                </a:solidFill>
              </a:rPr>
              <a:t>Water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120640" y="1783080"/>
            <a:ext cx="960120" cy="0"/>
          </a:xfrm>
          <a:prstGeom prst="line">
            <a:avLst/>
          </a:prstGeom>
          <a:noFill/>
          <a:ln w="19050">
            <a:solidFill>
              <a:srgbClr val="0B5D5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72200" y="1325880"/>
            <a:ext cx="2057400" cy="960120"/>
          </a:xfrm>
          <a:prstGeom prst="roundRect">
            <a:avLst>
              <a:gd name="adj" fmla="val 4762"/>
            </a:avLst>
          </a:prstGeom>
          <a:solidFill>
            <a:srgbClr val="F7FAFA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508760"/>
            <a:ext cx="15544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D5E"/>
                </a:solidFill>
              </a:rPr>
              <a:t>Session state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0" y="1828800"/>
            <a:ext cx="16002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C1C1C"/>
                </a:solidFill>
              </a:rPr>
              <a:t>st.session_state.hazard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321040" y="1783080"/>
            <a:ext cx="868680" cy="0"/>
          </a:xfrm>
          <a:prstGeom prst="line">
            <a:avLst/>
          </a:prstGeom>
          <a:noFill/>
          <a:ln w="19050">
            <a:solidFill>
              <a:srgbClr val="0B5D5E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281160" y="1325880"/>
            <a:ext cx="2148840" cy="960120"/>
          </a:xfrm>
          <a:prstGeom prst="roundRect">
            <a:avLst>
              <a:gd name="adj" fmla="val 4762"/>
            </a:avLst>
          </a:prstGeom>
          <a:solidFill>
            <a:srgbClr val="FDF2F8"/>
          </a:solidFill>
          <a:ln w="12700">
            <a:solidFill>
              <a:srgbClr val="D81B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46920" y="1508760"/>
            <a:ext cx="13716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1B60"/>
                </a:solidFill>
              </a:rPr>
              <a:t>Map colors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37192" y="1828800"/>
            <a:ext cx="1645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C1C1C"/>
                </a:solidFill>
              </a:rPr>
              <a:t>High / Medium / Low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2960" y="3246120"/>
            <a:ext cx="5029200" cy="1508760"/>
          </a:xfrm>
          <a:prstGeom prst="roundRect">
            <a:avLst>
              <a:gd name="adj" fmla="val 242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3392424"/>
            <a:ext cx="47000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current_levels = hazard_level_by_type.get(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st.session_state.hazard,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hazard_level_by_type["River Flood"]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 = current_levels[idx % len(current_levels)]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6400800" y="3246120"/>
            <a:ext cx="484632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C1C1C"/>
                </a:solidFill>
              </a:rPr>
              <a:t>When a user clicks an icon, Streamlit updates the hazard type.</a:t>
            </a:r>
            <a:endParaRPr lang="en-US" sz="1300" dirty="0"/>
          </a:p>
          <a:p>
            <a:r>
              <a:rPr lang="en-US" sz="1300" dirty="0">
                <a:solidFill>
                  <a:srgbClr val="1C1C1C"/>
                </a:solidFill>
              </a:rPr>
              <a:t>The selected hazard type chooses a different list of hazard levels.</a:t>
            </a:r>
            <a:endParaRPr lang="en-US" sz="1300" dirty="0"/>
          </a:p>
          <a:p>
            <a:r>
              <a:rPr lang="en-US" sz="1300" dirty="0">
                <a:solidFill>
                  <a:srgbClr val="1C1C1C"/>
                </a:solidFill>
              </a:rPr>
              <a:t>Folium redraws the constituency polygons using the new color classes.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Oshana FloodX | GIS Programming Project |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 risk classification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Road exposure is calculated using spatial intersection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9050">
            <a:solidFill>
              <a:srgbClr val="E40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0" y="2057400"/>
            <a:ext cx="1188720" cy="0"/>
          </a:xfrm>
          <a:prstGeom prst="line">
            <a:avLst/>
          </a:prstGeom>
          <a:noFill/>
          <a:ln w="19050">
            <a:solidFill>
              <a:srgbClr val="0B5D5E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0" y="2057400"/>
            <a:ext cx="1234440" cy="0"/>
          </a:xfrm>
          <a:prstGeom prst="line">
            <a:avLst/>
          </a:prstGeom>
          <a:noFill/>
          <a:ln w="19050">
            <a:solidFill>
              <a:srgbClr val="0B5D5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498080" y="2057400"/>
            <a:ext cx="1234440" cy="0"/>
          </a:xfrm>
          <a:prstGeom prst="line">
            <a:avLst/>
          </a:prstGeom>
          <a:noFill/>
          <a:ln w="19050">
            <a:solidFill>
              <a:srgbClr val="0B5D5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7240" y="1508760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F7FAFA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719072"/>
            <a:ext cx="1554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D5E"/>
                </a:solidFill>
              </a:rPr>
              <a:t>Road geometry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2029968"/>
            <a:ext cx="1554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Line from CSV/WKT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66160" y="1508760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F7FAFA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1719072"/>
            <a:ext cx="1554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D5E"/>
                </a:solidFill>
              </a:rPr>
              <a:t>Constituency polygon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85032" y="2029968"/>
            <a:ext cx="1554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Hazard class area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55080" y="1508760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F7FAFA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19072"/>
            <a:ext cx="1554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D5E"/>
                </a:solidFill>
              </a:rPr>
              <a:t>Intersects?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73952" y="2029968"/>
            <a:ext cx="1554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Spatial test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0" y="1508760"/>
            <a:ext cx="1783080" cy="1097280"/>
          </a:xfrm>
          <a:prstGeom prst="roundRect">
            <a:avLst>
              <a:gd name="adj" fmla="val 4167"/>
            </a:avLst>
          </a:prstGeom>
          <a:solidFill>
            <a:srgbClr val="F0FDF4"/>
          </a:solidFill>
          <a:ln w="12700">
            <a:solidFill>
              <a:srgbClr val="1794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62872" y="1719072"/>
            <a:ext cx="1554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945B"/>
                </a:solidFill>
              </a:rPr>
              <a:t>Risk output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62872" y="2029968"/>
            <a:ext cx="1554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C1C"/>
                </a:solidFill>
              </a:rPr>
              <a:t>Red or green road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3886200"/>
            <a:ext cx="4937760" cy="1051560"/>
          </a:xfrm>
          <a:prstGeom prst="roundRect">
            <a:avLst>
              <a:gd name="adj" fmla="val 4348"/>
            </a:avLst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114800"/>
            <a:ext cx="237744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1C1C"/>
                </a:solidFill>
              </a:rPr>
              <a:t>Risk Road rule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51560" y="4480560"/>
            <a:ext cx="42976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</a:rPr>
              <a:t>If a road intersects a High or Medium hazard area → Risk Road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46520" y="3886200"/>
            <a:ext cx="4663440" cy="1051560"/>
          </a:xfrm>
          <a:prstGeom prst="roundRect">
            <a:avLst>
              <a:gd name="adj" fmla="val 4348"/>
            </a:avLst>
          </a:prstGeom>
          <a:solidFill>
            <a:srgbClr val="F0FDF4"/>
          </a:solidFill>
          <a:ln w="12700">
            <a:solidFill>
              <a:srgbClr val="1794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4114800"/>
            <a:ext cx="2194560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945B"/>
                </a:solidFill>
              </a:rPr>
              <a:t>Safe Road rule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67512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C1C1C"/>
                </a:solidFill>
              </a:rPr>
              <a:t>If not exposed to High or Medium hazard areas → Safe Road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0292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Oshana FloodX | GIS Programming Project |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interaction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How users interact with the final app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9050">
            <a:solidFill>
              <a:srgbClr val="E4003A"/>
            </a:solidFill>
            <a:prstDash val="solid"/>
          </a:ln>
        </p:spPr>
      </p:sp>
      <p:pic>
        <p:nvPicPr>
          <p:cNvPr id="5" name="Image 0" descr="/mnt/data/image(396).png">    </p:cNvPr>
          <p:cNvPicPr>
            <a:picLocks noChangeAspect="1"/>
          </p:cNvPicPr>
          <p:nvPr/>
        </p:nvPicPr>
        <p:blipFill>
          <a:blip r:embed="rId1"/>
          <a:srcRect l="15483" r="15483" t="0" b="0"/>
          <a:stretch/>
        </p:blipFill>
        <p:spPr>
          <a:xfrm>
            <a:off x="685800" y="1371600"/>
            <a:ext cx="493776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371600"/>
            <a:ext cx="4937760" cy="4023360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72200" y="1325880"/>
            <a:ext cx="5166360" cy="4160520"/>
          </a:xfrm>
          <a:prstGeom prst="roundRect">
            <a:avLst>
              <a:gd name="adj" fmla="val 1099"/>
            </a:avLst>
          </a:prstGeom>
          <a:solidFill>
            <a:srgbClr val="F7FAFA"/>
          </a:solidFill>
          <a:ln w="12700">
            <a:solidFill>
              <a:srgbClr val="D7DE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313B"/>
                </a:solidFill>
              </a:rPr>
              <a:t>User controls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92240" y="2148840"/>
            <a:ext cx="438912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C1C1C"/>
                </a:solidFill>
              </a:rPr>
              <a:t>Hazard icons update the active hazard layer.</a:t>
            </a:r>
            <a:endParaRPr lang="en-US" sz="1300" dirty="0"/>
          </a:p>
          <a:p>
            <a:r>
              <a:rPr lang="en-US" sz="1300" dirty="0">
                <a:solidFill>
                  <a:srgbClr val="1C1C1C"/>
                </a:solidFill>
              </a:rPr>
              <a:t>Constituency dropdown zooms to a selected area.</a:t>
            </a:r>
            <a:endParaRPr lang="en-US" sz="1300" dirty="0"/>
          </a:p>
          <a:p>
            <a:r>
              <a:rPr lang="en-US" sz="1300" dirty="0">
                <a:solidFill>
                  <a:srgbClr val="1C1C1C"/>
                </a:solidFill>
              </a:rPr>
              <a:t>Map click selects the clicked constituency.</a:t>
            </a:r>
            <a:endParaRPr lang="en-US" sz="1300" dirty="0"/>
          </a:p>
          <a:p>
            <a:r>
              <a:rPr lang="en-US" sz="1300" dirty="0">
                <a:solidFill>
                  <a:srgbClr val="1C1C1C"/>
                </a:solidFill>
              </a:rPr>
              <a:t>Safe/Risk road buttons filter road visibility.</a:t>
            </a:r>
            <a:endParaRPr lang="en-US" sz="1300" dirty="0"/>
          </a:p>
          <a:p>
            <a:r>
              <a:rPr lang="en-US" sz="1300" dirty="0">
                <a:solidFill>
                  <a:srgbClr val="1C1C1C"/>
                </a:solidFill>
              </a:rPr>
              <a:t>Legend explains hazard and road colors.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Oshana FloodX | GIS Programming Project |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and crash-prevention choices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code includes several practical safeguards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9050">
            <a:solidFill>
              <a:srgbClr val="E40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4937760" cy="914400"/>
          </a:xfrm>
          <a:prstGeom prst="roundRect">
            <a:avLst>
              <a:gd name="adj" fmla="val 5000"/>
            </a:avLst>
          </a:prstGeom>
          <a:solidFill>
            <a:srgbClr val="F7FAFA"/>
          </a:solidFill>
          <a:ln w="12700">
            <a:solidFill>
              <a:srgbClr val="D7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81912"/>
            <a:ext cx="19202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5D5E"/>
                </a:solidFill>
              </a:rPr>
              <a:t>Caching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892808"/>
            <a:ext cx="4297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C1C1C"/>
                </a:solidFill>
              </a:rPr>
              <a:t>@st.cache_data avoids reloading files on every click.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49377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581912"/>
            <a:ext cx="19202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5D5E"/>
                </a:solidFill>
              </a:rPr>
              <a:t>CRS handling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29400" y="1892808"/>
            <a:ext cx="4297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C1C1C"/>
                </a:solidFill>
              </a:rPr>
              <a:t>Roads are converted from EPSG:32733 to EPSG:4326 for web mapping.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4937760" cy="914400"/>
          </a:xfrm>
          <a:prstGeom prst="roundRect">
            <a:avLst>
              <a:gd name="adj" fmla="val 5000"/>
            </a:avLst>
          </a:prstGeom>
          <a:solidFill>
            <a:srgbClr val="F7FAFA"/>
          </a:solidFill>
          <a:ln w="12700">
            <a:solidFill>
              <a:srgbClr val="D7DE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907792"/>
            <a:ext cx="19202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5D5E"/>
                </a:solidFill>
              </a:rPr>
              <a:t>Geometry simplification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218688"/>
            <a:ext cx="4297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C1C1C"/>
                </a:solidFill>
              </a:rPr>
              <a:t>Reduces rendering load for KML polygons and road lines.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6400800" y="2743200"/>
            <a:ext cx="49377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907792"/>
            <a:ext cx="19202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5D5E"/>
                </a:solidFill>
              </a:rPr>
              <a:t>Empty geometry checks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29400" y="3218688"/>
            <a:ext cx="4297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C1C1C"/>
                </a:solidFill>
              </a:rPr>
              <a:t>Empty or missing geometries are removed before display.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777240" y="4069080"/>
            <a:ext cx="4937760" cy="914400"/>
          </a:xfrm>
          <a:prstGeom prst="roundRect">
            <a:avLst>
              <a:gd name="adj" fmla="val 5000"/>
            </a:avLst>
          </a:prstGeom>
          <a:solidFill>
            <a:srgbClr val="F7FAFA"/>
          </a:solidFill>
          <a:ln w="12700">
            <a:solidFill>
              <a:srgbClr val="D7D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233672"/>
            <a:ext cx="19202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5D5E"/>
                </a:solidFill>
              </a:rPr>
              <a:t>Safe file loading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544568"/>
            <a:ext cx="4297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C1C1C"/>
                </a:solidFill>
              </a:rPr>
              <a:t>try/except blocks prevent one broken file from crashing the whole app.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400800" y="4069080"/>
            <a:ext cx="49377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4233672"/>
            <a:ext cx="19202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5D5E"/>
                </a:solidFill>
              </a:rPr>
              <a:t>Streamlit state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29400" y="4544568"/>
            <a:ext cx="42976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1C1C1C"/>
                </a:solidFill>
              </a:rPr>
              <a:t>Session variables keep selected hazard, constituency and road filters stable.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50292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Oshana FloodX | GIS Programming Project |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1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outputs and presentation points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What to demonstrate during assessment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9050">
            <a:solidFill>
              <a:srgbClr val="E40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4754880" cy="4206240"/>
          </a:xfrm>
          <a:prstGeom prst="roundRect">
            <a:avLst>
              <a:gd name="adj" fmla="val 1087"/>
            </a:avLst>
          </a:prstGeom>
          <a:solidFill>
            <a:srgbClr val="F7FAFA"/>
          </a:solidFill>
          <a:ln w="12700">
            <a:solidFill>
              <a:srgbClr val="D7DE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91640"/>
            <a:ext cx="42976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313B"/>
                </a:solidFill>
              </a:rPr>
              <a:t>Outputs produced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402336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C1C1C"/>
                </a:solidFill>
              </a:rPr>
              <a:t>Interactive Oshana hazard map.</a:t>
            </a:r>
            <a:endParaRPr lang="en-US" sz="1300" dirty="0"/>
          </a:p>
          <a:p>
            <a:r>
              <a:rPr lang="en-US" sz="1300" dirty="0">
                <a:solidFill>
                  <a:srgbClr val="1C1C1C"/>
                </a:solidFill>
              </a:rPr>
              <a:t>Four hazard views linked to top icons.</a:t>
            </a:r>
            <a:endParaRPr lang="en-US" sz="1300" dirty="0"/>
          </a:p>
          <a:p>
            <a:r>
              <a:rPr lang="en-US" sz="1300" dirty="0">
                <a:solidFill>
                  <a:srgbClr val="1C1C1C"/>
                </a:solidFill>
              </a:rPr>
              <a:t>Clickable and selectable constituency zoom.</a:t>
            </a:r>
            <a:endParaRPr lang="en-US" sz="1300" dirty="0"/>
          </a:p>
          <a:p>
            <a:r>
              <a:rPr lang="en-US" sz="1300" dirty="0">
                <a:solidFill>
                  <a:srgbClr val="1C1C1C"/>
                </a:solidFill>
              </a:rPr>
              <a:t>Road classification: Safe Road and Risk Road.</a:t>
            </a:r>
            <a:endParaRPr lang="en-US" sz="1300" dirty="0"/>
          </a:p>
          <a:p>
            <a:r>
              <a:rPr lang="en-US" sz="1300" dirty="0">
                <a:solidFill>
                  <a:srgbClr val="1C1C1C"/>
                </a:solidFill>
              </a:rPr>
              <a:t>Legend and dashboard recommendations.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212080" cy="4206240"/>
          </a:xfrm>
          <a:prstGeom prst="roundRect">
            <a:avLst>
              <a:gd name="adj" fmla="val 1087"/>
            </a:avLst>
          </a:prstGeom>
          <a:solidFill>
            <a:srgbClr val="FDF2F8"/>
          </a:solidFill>
          <a:ln w="12700">
            <a:solidFill>
              <a:srgbClr val="D81B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91640"/>
            <a:ext cx="43891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81B60"/>
                </a:solidFill>
              </a:rPr>
              <a:t>Demo script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37960" y="2240280"/>
            <a:ext cx="434340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300" dirty="0">
                <a:solidFill>
                  <a:srgbClr val="1C1C1C"/>
                </a:solidFill>
              </a:rPr>
              <a:t>Start on the home page and open the hazard map.</a:t>
            </a:r>
            <a:endParaRPr lang="en-US" sz="1300" dirty="0"/>
          </a:p>
          <a:p>
            <a:r>
              <a:rPr lang="en-US" sz="1300" dirty="0">
                <a:solidFill>
                  <a:srgbClr val="1C1C1C"/>
                </a:solidFill>
              </a:rPr>
              <a:t>Click each hazard icon and show the map color changes.</a:t>
            </a:r>
            <a:endParaRPr lang="en-US" sz="1300" dirty="0"/>
          </a:p>
          <a:p>
            <a:r>
              <a:rPr lang="en-US" sz="1300" dirty="0">
                <a:solidFill>
                  <a:srgbClr val="1C1C1C"/>
                </a:solidFill>
              </a:rPr>
              <a:t>Select one constituency and show zoom/filter behavior.</a:t>
            </a:r>
            <a:endParaRPr lang="en-US" sz="1300" dirty="0"/>
          </a:p>
          <a:p>
            <a:r>
              <a:rPr lang="en-US" sz="1300" dirty="0">
                <a:solidFill>
                  <a:srgbClr val="1C1C1C"/>
                </a:solidFill>
              </a:rPr>
              <a:t>Toggle Safe/Risk Roads and explain the spatial intersection method.</a:t>
            </a:r>
            <a:endParaRPr lang="en-US" sz="1300" dirty="0"/>
          </a:p>
          <a:p>
            <a:r>
              <a:rPr lang="en-US" sz="1300" dirty="0">
                <a:solidFill>
                  <a:srgbClr val="1C1C1C"/>
                </a:solidFill>
              </a:rPr>
              <a:t>End by explaining the libraries and methodology.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Oshana FloodX | GIS Programming Project | 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Oshana FloodX Presentation</dc:title>
  <dc:subject>Oshana FloodX methodology and library explanation</dc:subject>
  <dc:creator>OpenAI</dc:creator>
  <cp:lastModifiedBy>OpenAI</cp:lastModifiedBy>
  <cp:revision>1</cp:revision>
  <dcterms:created xsi:type="dcterms:W3CDTF">2026-05-21T08:51:56Z</dcterms:created>
  <dcterms:modified xsi:type="dcterms:W3CDTF">2026-05-21T08:51:56Z</dcterms:modified>
</cp:coreProperties>
</file>